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1280160"/>
            <a:ext cx="10607040" cy="73152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/>
            <a:r>
              <a:rPr sz="3400" b="1">
                <a:solidFill>
                  <a:srgbClr val="1F2F42"/>
                </a:solidFill>
                <a:latin typeface="Noto Sans CJK SC"/>
              </a:rPr>
              <a:t>结构化激活稀疏 + HiF4 W4A4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148840"/>
            <a:ext cx="9875520" cy="438912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/>
            <a:r>
              <a:rPr sz="2100" b="0">
                <a:solidFill>
                  <a:srgbClr val="2A6496"/>
                </a:solidFill>
                <a:latin typeface="Noto Sans CJK SC"/>
              </a:rPr>
              <a:t>TurboDiffusion / SLA 实验数学语义说明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852928"/>
            <a:ext cx="9601200" cy="32004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/>
            <a:r>
              <a:rPr sz="1400" b="0">
                <a:solidFill>
                  <a:srgbClr val="6A7580"/>
                </a:solidFill>
                <a:latin typeface="Noto Sans CJK SC"/>
              </a:rPr>
              <a:t>13 个已完成实验 · GEMM operand 级伪量化 · block 128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3675887"/>
            <a:ext cx="2011680" cy="64008"/>
          </a:xfrm>
          <a:prstGeom prst="rect">
            <a:avLst/>
          </a:prstGeom>
          <a:solidFill>
            <a:srgbClr val="2A6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3950208"/>
            <a:ext cx="9144000" cy="82296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/>
            <a:r>
              <a:rPr sz="1500" b="0">
                <a:solidFill>
                  <a:srgbClr val="252A30"/>
                </a:solidFill>
                <a:latin typeface="Noto Sans CJK SC"/>
              </a:rPr>
              <a:t>Dense-layout BF16/FP16 QDQ 数值仿真
不代表真实 4-bit 存储、稀疏 Tensor Core 或实测加速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65392"/>
            <a:ext cx="9144000" cy="146304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/>
            <a:r>
              <a:rPr sz="800" b="0">
                <a:solidFill>
                  <a:srgbClr val="6A7580"/>
                </a:solidFill>
                <a:latin typeface="Noto Sans CJK SC"/>
              </a:rPr>
              <a:t>TurboDiffusion · SLA structured activation sparsity + HiF4 W4A4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515600" cy="530352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/>
            <a:r>
              <a:rPr sz="2700" b="1">
                <a:solidFill>
                  <a:srgbClr val="1F2F42"/>
                </a:solidFill>
                <a:latin typeface="Noto Sans CJK SC"/>
              </a:rPr>
              <a:t>统一计算框架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41248"/>
            <a:ext cx="10515600" cy="256032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/>
            <a:r>
              <a:rPr sz="1000" b="0">
                <a:solidFill>
                  <a:srgbClr val="6A7580"/>
                </a:solidFill>
                <a:latin typeface="Noto Sans CJK SC"/>
              </a:rPr>
              <a:t>先确定真实 GEMM reduction 维，再做稀疏与 HiF4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320040"/>
            <a:ext cx="502920" cy="27432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r"/>
            <a:r>
              <a:rPr sz="1100" b="0">
                <a:solidFill>
                  <a:srgbClr val="6A7580"/>
                </a:solidFill>
                <a:latin typeface="Noto Sans CJK SC"/>
              </a:rPr>
              <a:t>02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60704"/>
            <a:ext cx="502920" cy="41148"/>
          </a:xfrm>
          <a:prstGeom prst="rect">
            <a:avLst/>
          </a:prstGeom>
          <a:solidFill>
            <a:srgbClr val="2A6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298448"/>
            <a:ext cx="1920240" cy="50292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ctr"/>
            <a:r>
              <a:rPr sz="2800" b="1">
                <a:solidFill>
                  <a:srgbClr val="2A6496"/>
                </a:solidFill>
                <a:latin typeface="Noto Sans CJK SC"/>
              </a:rPr>
              <a:t>O = Oₛ + Oₗ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874519"/>
            <a:ext cx="5349240" cy="3520440"/>
          </a:xfrm>
          <a:prstGeom prst="roundRect">
            <a:avLst/>
          </a:prstGeom>
          <a:solidFill>
            <a:srgbClr val="F7F8FA"/>
          </a:solidFill>
          <a:ln>
            <a:solidFill>
              <a:srgbClr val="CDD5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011679"/>
            <a:ext cx="4983479" cy="32004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/>
            <a:r>
              <a:rPr sz="1600" b="1">
                <a:solidFill>
                  <a:srgbClr val="2A6496"/>
                </a:solidFill>
                <a:latin typeface="Noto Sans CJK SC"/>
              </a:rPr>
              <a:t>Sparse-attention 分支 Oₛ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41448"/>
            <a:ext cx="4946903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252A30"/>
                </a:solidFill>
                <a:latin typeface="Noto Sans CJK SC"/>
              </a:defRPr>
            </a:pPr>
            <a:r>
              <a:t>• QK：Q[Lq,D] × Kᵀ[D,Lk]；reduction = feature D</a:t>
            </a:r>
          </a:p>
          <a:p>
            <a:pPr>
              <a:spcAft>
                <a:spcPts val="600"/>
              </a:spcAft>
              <a:defRPr sz="1200">
                <a:solidFill>
                  <a:srgbClr val="252A30"/>
                </a:solidFill>
                <a:latin typeface="Noto Sans CJK SC"/>
              </a:defRPr>
            </a:pPr>
            <a:r>
              <a:t>• PV：P[Lq,R] × V[R,D]；reduction = 选中 token R</a:t>
            </a:r>
          </a:p>
          <a:p>
            <a:pPr>
              <a:spcAft>
                <a:spcPts val="600"/>
              </a:spcAft>
              <a:defRPr sz="1200">
                <a:solidFill>
                  <a:srgbClr val="252A30"/>
                </a:solidFill>
                <a:latin typeface="Noto Sans CJK SC"/>
              </a:defRPr>
            </a:pPr>
            <a:r>
              <a:t>• SLA LUT block mask 始终保留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874519"/>
            <a:ext cx="5349240" cy="3520440"/>
          </a:xfrm>
          <a:prstGeom prst="roundRect">
            <a:avLst/>
          </a:prstGeom>
          <a:solidFill>
            <a:srgbClr val="F7F8FA"/>
          </a:solidFill>
          <a:ln>
            <a:solidFill>
              <a:srgbClr val="CDD5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2011679"/>
            <a:ext cx="4983479" cy="32004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/>
            <a:r>
              <a:rPr sz="1600" b="1">
                <a:solidFill>
                  <a:srgbClr val="26745A"/>
                </a:solidFill>
                <a:latin typeface="Noto Sans CJK SC"/>
              </a:rPr>
              <a:t>Linear-attention 分支 Oₗ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3368" y="2441448"/>
            <a:ext cx="4946903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252A30"/>
                </a:solidFill>
                <a:latin typeface="Noto Sans CJK SC"/>
              </a:defRPr>
            </a:pPr>
            <a:r>
              <a:t>• KtV：Kᵀ[D,L] × V[L,Dv]；reduction = token L</a:t>
            </a:r>
          </a:p>
          <a:p>
            <a:pPr>
              <a:spcAft>
                <a:spcPts val="600"/>
              </a:spcAft>
              <a:defRPr sz="1200">
                <a:solidFill>
                  <a:srgbClr val="252A30"/>
                </a:solidFill>
                <a:latin typeface="Noto Sans CJK SC"/>
              </a:defRPr>
            </a:pPr>
            <a:r>
              <a:t>• Q@KV：Q[L,D] × KV[D,Dv]；reduction = feature D</a:t>
            </a:r>
          </a:p>
          <a:p>
            <a:pPr>
              <a:spcAft>
                <a:spcPts val="600"/>
              </a:spcAft>
              <a:defRPr sz="1200">
                <a:solidFill>
                  <a:srgbClr val="252A30"/>
                </a:solidFill>
                <a:latin typeface="Noto Sans CJK SC"/>
              </a:defRPr>
            </a:pPr>
            <a:r>
              <a:t>• 分母 Q·ΣK 保持 dense，不参与实验量化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715000"/>
            <a:ext cx="10698480" cy="384048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ctr"/>
            <a:r>
              <a:rPr sz="1400" b="1">
                <a:solidFill>
                  <a:srgbClr val="1F2F42"/>
                </a:solidFill>
                <a:latin typeface="Noto Sans CJK SC"/>
              </a:rPr>
              <a:t>所有 block=128 都沿对应 GEMM 的 reduction/K 维独立切块，而不是 flatten 整个 tensor。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6565392"/>
            <a:ext cx="9144000" cy="146304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/>
            <a:r>
              <a:rPr sz="800" b="0">
                <a:solidFill>
                  <a:srgbClr val="6A7580"/>
                </a:solidFill>
                <a:latin typeface="Noto Sans CJK SC"/>
              </a:rPr>
              <a:t>TurboDiffusion · SLA structured activation sparsity + HiF4 W4A4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515600" cy="530352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/>
            <a:r>
              <a:rPr sz="2700" b="1">
                <a:solidFill>
                  <a:srgbClr val="1F2F42"/>
                </a:solidFill>
                <a:latin typeface="Noto Sans CJK SC"/>
              </a:rPr>
              <a:t>Q-path：3 个结构化稀疏 + HiF4 实验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41248"/>
            <a:ext cx="10515600" cy="256032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/>
            <a:r>
              <a:rPr sz="1000" b="0">
                <a:solidFill>
                  <a:srgbClr val="6A7580"/>
                </a:solidFill>
                <a:latin typeface="Noto Sans CJK SC"/>
              </a:rPr>
              <a:t>同一方法同时作用于 sparse QK 与 linear Q@KV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320040"/>
            <a:ext cx="502920" cy="27432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r"/>
            <a:r>
              <a:rPr sz="1100" b="0">
                <a:solidFill>
                  <a:srgbClr val="6A7580"/>
                </a:solidFill>
                <a:latin typeface="Noto Sans CJK SC"/>
              </a:rPr>
              <a:t>03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60704"/>
            <a:ext cx="502920" cy="41148"/>
          </a:xfrm>
          <a:prstGeom prst="rect">
            <a:avLst/>
          </a:prstGeom>
          <a:solidFill>
            <a:srgbClr val="2A6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389888"/>
          <a:ext cx="10927080" cy="4069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3160"/>
                <a:gridCol w="3154680"/>
                <a:gridCol w="3337560"/>
                <a:gridCol w="2011680"/>
              </a:tblGrid>
              <a:tr h="101727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实验</a:t>
                      </a:r>
                    </a:p>
                  </a:txBody>
                  <a:tcPr marL="54864" marR="54864" marT="32004" marB="32004" anchor="ctr">
                    <a:solidFill>
                      <a:srgbClr val="1F2F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sparse QK</a:t>
                      </a:r>
                    </a:p>
                  </a:txBody>
                  <a:tcPr marL="54864" marR="54864" marT="32004" marB="32004" anchor="ctr">
                    <a:solidFill>
                      <a:srgbClr val="1F2F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linear Q@KV</a:t>
                      </a:r>
                    </a:p>
                  </a:txBody>
                  <a:tcPr marL="54864" marR="54864" marT="32004" marB="32004" anchor="ctr">
                    <a:solidFill>
                      <a:srgbClr val="1F2F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其余 GEMM</a:t>
                      </a:r>
                    </a:p>
                  </a:txBody>
                  <a:tcPr marL="54864" marR="54864" marT="32004" marB="32004" anchor="ctr">
                    <a:solidFill>
                      <a:srgbClr val="1F2F42"/>
                    </a:solidFill>
                  </a:tcPr>
                </a:tc>
              </a:tr>
              <a:tr h="101727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52A30"/>
                          </a:solidFill>
                          <a:latin typeface="Noto Sans CJK SC"/>
                        </a:defRPr>
                      </a:pPr>
                      <a:r>
                        <a:t>Q 2:4 + HiF4</a:t>
                      </a:r>
                    </a:p>
                  </a:txBody>
                  <a:tcPr marL="54864" marR="54864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52A30"/>
                          </a:solidFill>
                          <a:latin typeface="Noto Sans CJK SC"/>
                        </a:defRPr>
                      </a:pPr>
                      <a:r>
                        <a:t>Q feature 2:4 → A4</a:t>
                      </a:r>
                    </a:p>
                    <a:p>
                      <a:pPr>
                        <a:defRPr sz="1100" b="0">
                          <a:solidFill>
                            <a:srgbClr val="252A30"/>
                          </a:solidFill>
                          <a:latin typeface="Noto Sans CJK SC"/>
                        </a:defRPr>
                      </a:pPr>
                      <a:r>
                        <a:t>K → W4</a:t>
                      </a:r>
                    </a:p>
                  </a:txBody>
                  <a:tcPr marL="54864" marR="54864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52A30"/>
                          </a:solidFill>
                          <a:latin typeface="Noto Sans CJK SC"/>
                        </a:defRPr>
                      </a:pPr>
                      <a:r>
                        <a:t>feature-map Q 2:4 → A4</a:t>
                      </a:r>
                    </a:p>
                    <a:p>
                      <a:pPr>
                        <a:defRPr sz="1100" b="0">
                          <a:solidFill>
                            <a:srgbClr val="252A30"/>
                          </a:solidFill>
                          <a:latin typeface="Noto Sans CJK SC"/>
                        </a:defRPr>
                      </a:pPr>
                      <a:r>
                        <a:t>KV → W4</a:t>
                      </a:r>
                    </a:p>
                  </a:txBody>
                  <a:tcPr marL="54864" marR="54864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52A30"/>
                          </a:solidFill>
                          <a:latin typeface="Noto Sans CJK SC"/>
                        </a:defRPr>
                      </a:pPr>
                      <a:r>
                        <a:t>KtV、PV不量化</a:t>
                      </a:r>
                    </a:p>
                  </a:txBody>
                  <a:tcPr marL="54864" marR="54864" marT="32004" marB="32004" anchor="ctr">
                    <a:solidFill>
                      <a:srgbClr val="FFFFFF"/>
                    </a:solidFill>
                  </a:tcPr>
                </a:tc>
              </a:tr>
              <a:tr h="101727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52A30"/>
                          </a:solidFill>
                          <a:latin typeface="Noto Sans CJK SC"/>
                        </a:defRPr>
                      </a:pPr>
                      <a:r>
                        <a:t>Q 4:8 pairwise + HiF4</a:t>
                      </a:r>
                    </a:p>
                  </a:txBody>
                  <a:tcPr marL="54864" marR="54864" marT="32004" marB="32004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52A30"/>
                          </a:solidFill>
                          <a:latin typeface="Noto Sans CJK SC"/>
                        </a:defRPr>
                      </a:pPr>
                      <a:r>
                        <a:t>Q feature 4:8 pairwise → A4</a:t>
                      </a:r>
                    </a:p>
                    <a:p>
                      <a:pPr>
                        <a:defRPr sz="1100" b="0">
                          <a:solidFill>
                            <a:srgbClr val="252A30"/>
                          </a:solidFill>
                          <a:latin typeface="Noto Sans CJK SC"/>
                        </a:defRPr>
                      </a:pPr>
                      <a:r>
                        <a:t>K → W4</a:t>
                      </a:r>
                    </a:p>
                  </a:txBody>
                  <a:tcPr marL="54864" marR="54864" marT="32004" marB="32004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52A30"/>
                          </a:solidFill>
                          <a:latin typeface="Noto Sans CJK SC"/>
                        </a:defRPr>
                      </a:pPr>
                      <a:r>
                        <a:t>feature-map Q 4:8 pairwise → A4</a:t>
                      </a:r>
                    </a:p>
                    <a:p>
                      <a:pPr>
                        <a:defRPr sz="1100" b="0">
                          <a:solidFill>
                            <a:srgbClr val="252A30"/>
                          </a:solidFill>
                          <a:latin typeface="Noto Sans CJK SC"/>
                        </a:defRPr>
                      </a:pPr>
                      <a:r>
                        <a:t>KV → W4</a:t>
                      </a:r>
                    </a:p>
                  </a:txBody>
                  <a:tcPr marL="54864" marR="54864" marT="32004" marB="32004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52A30"/>
                          </a:solidFill>
                          <a:latin typeface="Noto Sans CJK SC"/>
                        </a:defRPr>
                      </a:pPr>
                      <a:r>
                        <a:t>KtV、PV不量化</a:t>
                      </a:r>
                    </a:p>
                  </a:txBody>
                  <a:tcPr marL="54864" marR="54864" marT="32004" marB="32004" anchor="ctr">
                    <a:solidFill>
                      <a:srgbClr val="F7F8FA"/>
                    </a:solidFill>
                  </a:tcPr>
                </a:tc>
              </a:tr>
              <a:tr h="101727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52A30"/>
                          </a:solidFill>
                          <a:latin typeface="Noto Sans CJK SC"/>
                        </a:defRPr>
                      </a:pPr>
                      <a:r>
                        <a:t>Q 2:4 share-index=2 + HiF4</a:t>
                      </a:r>
                    </a:p>
                  </a:txBody>
                  <a:tcPr marL="54864" marR="54864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52A30"/>
                          </a:solidFill>
                          <a:latin typeface="Noto Sans CJK SC"/>
                        </a:defRPr>
                      </a:pPr>
                      <a:r>
                        <a:t>相邻Q token共享feature 2:4 mask</a:t>
                      </a:r>
                    </a:p>
                    <a:p>
                      <a:pPr>
                        <a:defRPr sz="1100" b="0">
                          <a:solidFill>
                            <a:srgbClr val="252A30"/>
                          </a:solidFill>
                          <a:latin typeface="Noto Sans CJK SC"/>
                        </a:defRPr>
                      </a:pPr>
                      <a:r>
                        <a:t>Q → A4；K → W4</a:t>
                      </a:r>
                    </a:p>
                  </a:txBody>
                  <a:tcPr marL="54864" marR="54864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52A30"/>
                          </a:solidFill>
                          <a:latin typeface="Noto Sans CJK SC"/>
                        </a:defRPr>
                      </a:pPr>
                      <a:r>
                        <a:t>相邻Q token共享feature 2:4 mask</a:t>
                      </a:r>
                    </a:p>
                    <a:p>
                      <a:pPr>
                        <a:defRPr sz="1100" b="0">
                          <a:solidFill>
                            <a:srgbClr val="252A30"/>
                          </a:solidFill>
                          <a:latin typeface="Noto Sans CJK SC"/>
                        </a:defRPr>
                      </a:pPr>
                      <a:r>
                        <a:t>Q → A4；KV → W4</a:t>
                      </a:r>
                    </a:p>
                  </a:txBody>
                  <a:tcPr marL="54864" marR="54864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52A30"/>
                          </a:solidFill>
                          <a:latin typeface="Noto Sans CJK SC"/>
                        </a:defRPr>
                      </a:pPr>
                      <a:r>
                        <a:t>KtV、PV不量化</a:t>
                      </a:r>
                    </a:p>
                  </a:txBody>
                  <a:tcPr marL="54864" marR="54864" marT="32004" marB="3200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" y="5760720"/>
            <a:ext cx="10607040" cy="384048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ctr"/>
            <a:r>
              <a:rPr sz="1400" b="1">
                <a:solidFill>
                  <a:srgbClr val="1F2F42"/>
                </a:solidFill>
                <a:latin typeface="Noto Sans CJK SC"/>
              </a:rPr>
              <a:t>QK 使用原 attention Q；Q@KV 使用 feature map 后的 Q。两处重新生成 mask 和 HiF4 scale。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565392"/>
            <a:ext cx="9144000" cy="146304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/>
            <a:r>
              <a:rPr sz="800" b="0">
                <a:solidFill>
                  <a:srgbClr val="6A7580"/>
                </a:solidFill>
                <a:latin typeface="Noto Sans CJK SC"/>
              </a:rPr>
              <a:t>TurboDiffusion · SLA structured activation sparsity + HiF4 W4A4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515600" cy="530352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/>
            <a:r>
              <a:rPr sz="2700" b="1">
                <a:solidFill>
                  <a:srgbClr val="1F2F42"/>
                </a:solidFill>
                <a:latin typeface="Noto Sans CJK SC"/>
              </a:rPr>
              <a:t>K-path：3 个 branch-aware 稀疏 + HiF4 实验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41248"/>
            <a:ext cx="10515600" cy="256032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/>
            <a:r>
              <a:rPr sz="1000" b="0">
                <a:solidFill>
                  <a:srgbClr val="6A7580"/>
                </a:solidFill>
                <a:latin typeface="Noto Sans CJK SC"/>
              </a:rPr>
              <a:t>K 在两个 GEMM 中按不同 reduction 维分别稀疏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320040"/>
            <a:ext cx="502920" cy="27432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r"/>
            <a:r>
              <a:rPr sz="1100" b="0">
                <a:solidFill>
                  <a:srgbClr val="6A7580"/>
                </a:solidFill>
                <a:latin typeface="Noto Sans CJK SC"/>
              </a:rPr>
              <a:t>04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60704"/>
            <a:ext cx="502920" cy="41148"/>
          </a:xfrm>
          <a:prstGeom prst="rect">
            <a:avLst/>
          </a:prstGeom>
          <a:solidFill>
            <a:srgbClr val="2A6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389888"/>
          <a:ext cx="10927080" cy="4069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3160"/>
                <a:gridCol w="3291840"/>
                <a:gridCol w="3291840"/>
                <a:gridCol w="1920240"/>
              </a:tblGrid>
              <a:tr h="101727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实验</a:t>
                      </a:r>
                    </a:p>
                  </a:txBody>
                  <a:tcPr marL="54864" marR="54864" marT="32004" marB="32004" anchor="ctr">
                    <a:solidFill>
                      <a:srgbClr val="1F2F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sparse QK：reduction=D</a:t>
                      </a:r>
                    </a:p>
                  </a:txBody>
                  <a:tcPr marL="54864" marR="54864" marT="32004" marB="32004" anchor="ctr">
                    <a:solidFill>
                      <a:srgbClr val="1F2F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linear KtV：reduction=L</a:t>
                      </a:r>
                    </a:p>
                  </a:txBody>
                  <a:tcPr marL="54864" marR="54864" marT="32004" marB="32004" anchor="ctr">
                    <a:solidFill>
                      <a:srgbClr val="1F2F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其余</a:t>
                      </a:r>
                    </a:p>
                  </a:txBody>
                  <a:tcPr marL="54864" marR="54864" marT="32004" marB="32004" anchor="ctr">
                    <a:solidFill>
                      <a:srgbClr val="1F2F42"/>
                    </a:solidFill>
                  </a:tcPr>
                </a:tc>
              </a:tr>
              <a:tr h="101727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52A30"/>
                          </a:solidFill>
                          <a:latin typeface="Noto Sans CJK SC"/>
                        </a:defRPr>
                      </a:pPr>
                      <a:r>
                        <a:t>K 2:4 + HiF4</a:t>
                      </a:r>
                    </a:p>
                  </a:txBody>
                  <a:tcPr marL="54864" marR="54864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52A30"/>
                          </a:solidFill>
                          <a:latin typeface="Noto Sans CJK SC"/>
                        </a:defRPr>
                      </a:pPr>
                      <a:r>
                        <a:t>K feature 2:4 → A4</a:t>
                      </a:r>
                    </a:p>
                    <a:p>
                      <a:pPr>
                        <a:defRPr sz="1100" b="0">
                          <a:solidFill>
                            <a:srgbClr val="252A30"/>
                          </a:solidFill>
                          <a:latin typeface="Noto Sans CJK SC"/>
                        </a:defRPr>
                      </a:pPr>
                      <a:r>
                        <a:t>Q → W4</a:t>
                      </a:r>
                    </a:p>
                  </a:txBody>
                  <a:tcPr marL="54864" marR="54864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52A30"/>
                          </a:solidFill>
                          <a:latin typeface="Noto Sans CJK SC"/>
                        </a:defRPr>
                      </a:pPr>
                      <a:r>
                        <a:t>K token 2:4 → A4</a:t>
                      </a:r>
                    </a:p>
                    <a:p>
                      <a:pPr>
                        <a:defRPr sz="1100" b="0">
                          <a:solidFill>
                            <a:srgbClr val="252A30"/>
                          </a:solidFill>
                          <a:latin typeface="Noto Sans CJK SC"/>
                        </a:defRPr>
                      </a:pPr>
                      <a:r>
                        <a:t>V → W4</a:t>
                      </a:r>
                    </a:p>
                  </a:txBody>
                  <a:tcPr marL="54864" marR="54864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52A30"/>
                          </a:solidFill>
                          <a:latin typeface="Noto Sans CJK SC"/>
                        </a:defRPr>
                      </a:pPr>
                      <a:r>
                        <a:t>Q@KV、PV不量化</a:t>
                      </a:r>
                    </a:p>
                  </a:txBody>
                  <a:tcPr marL="54864" marR="54864" marT="32004" marB="32004" anchor="ctr">
                    <a:solidFill>
                      <a:srgbClr val="FFFFFF"/>
                    </a:solidFill>
                  </a:tcPr>
                </a:tc>
              </a:tr>
              <a:tr h="101727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52A30"/>
                          </a:solidFill>
                          <a:latin typeface="Noto Sans CJK SC"/>
                        </a:defRPr>
                      </a:pPr>
                      <a:r>
                        <a:t>K 4:8 pairwise + HiF4</a:t>
                      </a:r>
                    </a:p>
                  </a:txBody>
                  <a:tcPr marL="54864" marR="54864" marT="32004" marB="32004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52A30"/>
                          </a:solidFill>
                          <a:latin typeface="Noto Sans CJK SC"/>
                        </a:defRPr>
                      </a:pPr>
                      <a:r>
                        <a:t>K feature 4:8 pairwise → A4</a:t>
                      </a:r>
                    </a:p>
                    <a:p>
                      <a:pPr>
                        <a:defRPr sz="1100" b="0">
                          <a:solidFill>
                            <a:srgbClr val="252A30"/>
                          </a:solidFill>
                          <a:latin typeface="Noto Sans CJK SC"/>
                        </a:defRPr>
                      </a:pPr>
                      <a:r>
                        <a:t>Q → W4</a:t>
                      </a:r>
                    </a:p>
                  </a:txBody>
                  <a:tcPr marL="54864" marR="54864" marT="32004" marB="32004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52A30"/>
                          </a:solidFill>
                          <a:latin typeface="Noto Sans CJK SC"/>
                        </a:defRPr>
                      </a:pPr>
                      <a:r>
                        <a:t>K token 4:8 pairwise → A4</a:t>
                      </a:r>
                    </a:p>
                    <a:p>
                      <a:pPr>
                        <a:defRPr sz="1100" b="0">
                          <a:solidFill>
                            <a:srgbClr val="252A30"/>
                          </a:solidFill>
                          <a:latin typeface="Noto Sans CJK SC"/>
                        </a:defRPr>
                      </a:pPr>
                      <a:r>
                        <a:t>V → W4</a:t>
                      </a:r>
                    </a:p>
                  </a:txBody>
                  <a:tcPr marL="54864" marR="54864" marT="32004" marB="32004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52A30"/>
                          </a:solidFill>
                          <a:latin typeface="Noto Sans CJK SC"/>
                        </a:defRPr>
                      </a:pPr>
                      <a:r>
                        <a:t>Q@KV、PV不量化</a:t>
                      </a:r>
                    </a:p>
                  </a:txBody>
                  <a:tcPr marL="54864" marR="54864" marT="32004" marB="32004" anchor="ctr">
                    <a:solidFill>
                      <a:srgbClr val="F7F8FA"/>
                    </a:solidFill>
                  </a:tcPr>
                </a:tc>
              </a:tr>
              <a:tr h="101727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52A30"/>
                          </a:solidFill>
                          <a:latin typeface="Noto Sans CJK SC"/>
                        </a:defRPr>
                      </a:pPr>
                      <a:r>
                        <a:t>K 2:4 share-index=2 + HiF4</a:t>
                      </a:r>
                    </a:p>
                  </a:txBody>
                  <a:tcPr marL="54864" marR="54864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52A30"/>
                          </a:solidFill>
                          <a:latin typeface="Noto Sans CJK SC"/>
                        </a:defRPr>
                      </a:pPr>
                      <a:r>
                        <a:t>相邻K token共享feature mask</a:t>
                      </a:r>
                    </a:p>
                    <a:p>
                      <a:pPr>
                        <a:defRPr sz="1100" b="0">
                          <a:solidFill>
                            <a:srgbClr val="252A30"/>
                          </a:solidFill>
                          <a:latin typeface="Noto Sans CJK SC"/>
                        </a:defRPr>
                      </a:pPr>
                      <a:r>
                        <a:t>K → A4；Q → W4</a:t>
                      </a:r>
                    </a:p>
                  </a:txBody>
                  <a:tcPr marL="54864" marR="54864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52A30"/>
                          </a:solidFill>
                          <a:latin typeface="Noto Sans CJK SC"/>
                        </a:defRPr>
                      </a:pPr>
                      <a:r>
                        <a:t>相邻K feature共享token mask</a:t>
                      </a:r>
                    </a:p>
                    <a:p>
                      <a:pPr>
                        <a:defRPr sz="1100" b="0">
                          <a:solidFill>
                            <a:srgbClr val="252A30"/>
                          </a:solidFill>
                          <a:latin typeface="Noto Sans CJK SC"/>
                        </a:defRPr>
                      </a:pPr>
                      <a:r>
                        <a:t>K → A4；V → W4</a:t>
                      </a:r>
                    </a:p>
                  </a:txBody>
                  <a:tcPr marL="54864" marR="54864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52A30"/>
                          </a:solidFill>
                          <a:latin typeface="Noto Sans CJK SC"/>
                        </a:defRPr>
                      </a:pPr>
                      <a:r>
                        <a:t>Q@KV、PV不量化</a:t>
                      </a:r>
                    </a:p>
                  </a:txBody>
                  <a:tcPr marL="54864" marR="54864" marT="32004" marB="3200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097280" y="5705856"/>
            <a:ext cx="9966960" cy="402336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ctr"/>
            <a:r>
              <a:rPr sz="1800" b="1">
                <a:solidFill>
                  <a:srgbClr val="2A6496"/>
                </a:solidFill>
                <a:latin typeface="Noto Sans CJK SC"/>
              </a:rPr>
              <a:t>K_QK-sparse = S_feature(K)    ≠    K_KtV-sparse = S_token(K)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565392"/>
            <a:ext cx="9144000" cy="146304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/>
            <a:r>
              <a:rPr sz="800" b="0">
                <a:solidFill>
                  <a:srgbClr val="6A7580"/>
                </a:solidFill>
                <a:latin typeface="Noto Sans CJK SC"/>
              </a:rPr>
              <a:t>TurboDiffusion · SLA structured activation sparsity + HiF4 W4A4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515600" cy="530352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/>
            <a:r>
              <a:rPr sz="2700" b="1">
                <a:solidFill>
                  <a:srgbClr val="1F2F42"/>
                </a:solidFill>
                <a:latin typeface="Noto Sans CJK SC"/>
              </a:rPr>
              <a:t>Linear two-GEMM：4 个组合实验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41248"/>
            <a:ext cx="10515600" cy="256032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/>
            <a:r>
              <a:rPr sz="1000" b="0">
                <a:solidFill>
                  <a:srgbClr val="6A7580"/>
                </a:solidFill>
                <a:latin typeface="Noto Sans CJK SC"/>
              </a:rPr>
              <a:t>只修改 linear-attention 分支；sparse QK / PV 保持普通 SLA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320040"/>
            <a:ext cx="502920" cy="27432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r"/>
            <a:r>
              <a:rPr sz="1100" b="0">
                <a:solidFill>
                  <a:srgbClr val="6A7580"/>
                </a:solidFill>
                <a:latin typeface="Noto Sans CJK SC"/>
              </a:rPr>
              <a:t>05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60704"/>
            <a:ext cx="502920" cy="41148"/>
          </a:xfrm>
          <a:prstGeom prst="rect">
            <a:avLst/>
          </a:prstGeom>
          <a:solidFill>
            <a:srgbClr val="2A6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49808" y="1417320"/>
          <a:ext cx="10698478" cy="4251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3977639"/>
                <a:gridCol w="3977639"/>
              </a:tblGrid>
              <a:tr h="850392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实验</a:t>
                      </a:r>
                    </a:p>
                  </a:txBody>
                  <a:tcPr marL="54864" marR="54864" marT="32004" marB="32004" anchor="ctr">
                    <a:solidFill>
                      <a:srgbClr val="1F2F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KtV：Kᵀ × V</a:t>
                      </a:r>
                    </a:p>
                  </a:txBody>
                  <a:tcPr marL="54864" marR="54864" marT="32004" marB="32004" anchor="ctr">
                    <a:solidFill>
                      <a:srgbClr val="1F2F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Q@KV：Q × KV</a:t>
                      </a:r>
                    </a:p>
                  </a:txBody>
                  <a:tcPr marL="54864" marR="54864" marT="32004" marB="32004" anchor="ctr">
                    <a:solidFill>
                      <a:srgbClr val="1F2F42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52A30"/>
                          </a:solidFill>
                          <a:latin typeface="Noto Sans CJK SC"/>
                        </a:defRPr>
                      </a:pPr>
                      <a:r>
                        <a:t>Linear K + Q</a:t>
                      </a:r>
                    </a:p>
                  </a:txBody>
                  <a:tcPr marL="54864" marR="54864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52A30"/>
                          </a:solidFill>
                          <a:latin typeface="Noto Sans CJK SC"/>
                        </a:defRPr>
                      </a:pPr>
                      <a:r>
                        <a:t>K token 2:4 → A4；V → W4</a:t>
                      </a:r>
                    </a:p>
                  </a:txBody>
                  <a:tcPr marL="54864" marR="54864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52A30"/>
                          </a:solidFill>
                          <a:latin typeface="Noto Sans CJK SC"/>
                        </a:defRPr>
                      </a:pPr>
                      <a:r>
                        <a:t>Q feature 2:4 → A4；KV → W4</a:t>
                      </a:r>
                    </a:p>
                  </a:txBody>
                  <a:tcPr marL="54864" marR="54864" marT="32004" marB="32004" anchor="ctr">
                    <a:solidFill>
                      <a:srgbClr val="FFFFFF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52A30"/>
                          </a:solidFill>
                          <a:latin typeface="Noto Sans CJK SC"/>
                        </a:defRPr>
                      </a:pPr>
                      <a:r>
                        <a:t>Linear K + KV</a:t>
                      </a:r>
                    </a:p>
                  </a:txBody>
                  <a:tcPr marL="54864" marR="54864" marT="32004" marB="32004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52A30"/>
                          </a:solidFill>
                          <a:latin typeface="Noto Sans CJK SC"/>
                        </a:defRPr>
                      </a:pPr>
                      <a:r>
                        <a:t>K token 2:4 → A4；V → W4</a:t>
                      </a:r>
                    </a:p>
                  </a:txBody>
                  <a:tcPr marL="54864" marR="54864" marT="32004" marB="32004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52A30"/>
                          </a:solidFill>
                          <a:latin typeface="Noto Sans CJK SC"/>
                        </a:defRPr>
                      </a:pPr>
                      <a:r>
                        <a:t>Q → W4；KV reduction维2:4 → A4</a:t>
                      </a:r>
                    </a:p>
                  </a:txBody>
                  <a:tcPr marL="54864" marR="54864" marT="32004" marB="32004" anchor="ctr">
                    <a:solidFill>
                      <a:srgbClr val="F7F8FA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52A30"/>
                          </a:solidFill>
                          <a:latin typeface="Noto Sans CJK SC"/>
                        </a:defRPr>
                      </a:pPr>
                      <a:r>
                        <a:t>Linear V + Q</a:t>
                      </a:r>
                    </a:p>
                  </a:txBody>
                  <a:tcPr marL="54864" marR="54864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52A30"/>
                          </a:solidFill>
                          <a:latin typeface="Noto Sans CJK SC"/>
                        </a:defRPr>
                      </a:pPr>
                      <a:r>
                        <a:t>K → W4；V token 2:4 → A4</a:t>
                      </a:r>
                    </a:p>
                  </a:txBody>
                  <a:tcPr marL="54864" marR="54864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52A30"/>
                          </a:solidFill>
                          <a:latin typeface="Noto Sans CJK SC"/>
                        </a:defRPr>
                      </a:pPr>
                      <a:r>
                        <a:t>Q feature 2:4 → A4；KV → W4</a:t>
                      </a:r>
                    </a:p>
                  </a:txBody>
                  <a:tcPr marL="54864" marR="54864" marT="32004" marB="32004" anchor="ctr">
                    <a:solidFill>
                      <a:srgbClr val="FFFFFF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52A30"/>
                          </a:solidFill>
                          <a:latin typeface="Noto Sans CJK SC"/>
                        </a:defRPr>
                      </a:pPr>
                      <a:r>
                        <a:t>Linear V + KV</a:t>
                      </a:r>
                    </a:p>
                  </a:txBody>
                  <a:tcPr marL="54864" marR="54864" marT="32004" marB="32004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52A30"/>
                          </a:solidFill>
                          <a:latin typeface="Noto Sans CJK SC"/>
                        </a:defRPr>
                      </a:pPr>
                      <a:r>
                        <a:t>K → W4；V token 2:4 → A4</a:t>
                      </a:r>
                    </a:p>
                  </a:txBody>
                  <a:tcPr marL="54864" marR="54864" marT="32004" marB="32004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52A30"/>
                          </a:solidFill>
                          <a:latin typeface="Noto Sans CJK SC"/>
                        </a:defRPr>
                      </a:pPr>
                      <a:r>
                        <a:t>Q → W4；KV reduction维2:4 → A4</a:t>
                      </a:r>
                    </a:p>
                  </a:txBody>
                  <a:tcPr marL="54864" marR="54864" marT="32004" marB="32004" anchor="ctr"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77240" y="5833872"/>
            <a:ext cx="10607040" cy="36576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ctr"/>
            <a:r>
              <a:rPr sz="1400" b="1">
                <a:solidFill>
                  <a:srgbClr val="1F2F42"/>
                </a:solidFill>
                <a:latin typeface="Noto Sans CJK SC"/>
              </a:rPr>
              <a:t>A4 = 被结构化稀疏的 operand；W4 = 同一 GEMM 的另一侧激活。W4 不是模型 Linear 权重。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565392"/>
            <a:ext cx="9144000" cy="146304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/>
            <a:r>
              <a:rPr sz="800" b="0">
                <a:solidFill>
                  <a:srgbClr val="6A7580"/>
                </a:solidFill>
                <a:latin typeface="Noto Sans CJK SC"/>
              </a:rPr>
              <a:t>TurboDiffusion · SLA structured activation sparsity + HiF4 W4A4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515600" cy="530352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/>
            <a:r>
              <a:rPr sz="2700" b="1">
                <a:solidFill>
                  <a:srgbClr val="1F2F42"/>
                </a:solidFill>
                <a:latin typeface="Noto Sans CJK SC"/>
              </a:rPr>
              <a:t>Rubin triple 2:4 + HiF4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41248"/>
            <a:ext cx="10515600" cy="256032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/>
            <a:r>
              <a:rPr sz="1000" b="0">
                <a:solidFill>
                  <a:srgbClr val="6A7580"/>
                </a:solidFill>
                <a:latin typeface="Noto Sans CJK SC"/>
              </a:rPr>
              <a:t>三处同时稀疏，仅允许 fused Triton forward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320040"/>
            <a:ext cx="502920" cy="27432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r"/>
            <a:r>
              <a:rPr sz="1100" b="0">
                <a:solidFill>
                  <a:srgbClr val="6A7580"/>
                </a:solidFill>
                <a:latin typeface="Noto Sans CJK SC"/>
              </a:rPr>
              <a:t>06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60704"/>
            <a:ext cx="502920" cy="41148"/>
          </a:xfrm>
          <a:prstGeom prst="rect">
            <a:avLst/>
          </a:prstGeom>
          <a:solidFill>
            <a:srgbClr val="2A6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49808" y="1389888"/>
          <a:ext cx="10698480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3703320"/>
                <a:gridCol w="2103120"/>
                <a:gridCol w="3063240"/>
              </a:tblGrid>
              <a:tr h="83439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位置</a:t>
                      </a:r>
                    </a:p>
                  </a:txBody>
                  <a:tcPr marL="54864" marR="54864" marT="32004" marB="32004" anchor="ctr">
                    <a:solidFill>
                      <a:srgbClr val="1F2F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结构化稀疏 A4</a:t>
                      </a:r>
                    </a:p>
                  </a:txBody>
                  <a:tcPr marL="54864" marR="54864" marT="32004" marB="32004" anchor="ctr">
                    <a:solidFill>
                      <a:srgbClr val="1F2F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另一侧 W4</a:t>
                      </a:r>
                    </a:p>
                  </a:txBody>
                  <a:tcPr marL="54864" marR="54864" marT="32004" marB="32004" anchor="ctr">
                    <a:solidFill>
                      <a:srgbClr val="1F2F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HiF4 reduction block</a:t>
                      </a:r>
                    </a:p>
                  </a:txBody>
                  <a:tcPr marL="54864" marR="54864" marT="32004" marB="32004" anchor="ctr">
                    <a:solidFill>
                      <a:srgbClr val="1F2F42"/>
                    </a:solidFill>
                  </a:tcPr>
                </a:tc>
              </a:tr>
              <a:tr h="83439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52A30"/>
                          </a:solidFill>
                          <a:latin typeface="Noto Sans CJK SC"/>
                        </a:defRPr>
                      </a:pPr>
                      <a:r>
                        <a:t>sparse QK</a:t>
                      </a:r>
                    </a:p>
                  </a:txBody>
                  <a:tcPr marL="54864" marR="54864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52A30"/>
                          </a:solidFill>
                          <a:latin typeface="Noto Sans CJK SC"/>
                        </a:defRPr>
                      </a:pPr>
                      <a:r>
                        <a:t>K 沿 feature D 做2:4</a:t>
                      </a:r>
                    </a:p>
                  </a:txBody>
                  <a:tcPr marL="54864" marR="54864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52A30"/>
                          </a:solidFill>
                          <a:latin typeface="Noto Sans CJK SC"/>
                        </a:defRPr>
                      </a:pPr>
                      <a:r>
                        <a:t>Q</a:t>
                      </a:r>
                    </a:p>
                  </a:txBody>
                  <a:tcPr marL="54864" marR="54864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52A30"/>
                          </a:solidFill>
                          <a:latin typeface="Noto Sans CJK SC"/>
                        </a:defRPr>
                      </a:pPr>
                      <a:r>
                        <a:t>D维每连续128</a:t>
                      </a:r>
                    </a:p>
                  </a:txBody>
                  <a:tcPr marL="54864" marR="54864" marT="32004" marB="32004" anchor="ctr">
                    <a:solidFill>
                      <a:srgbClr val="FFFFFF"/>
                    </a:solidFill>
                  </a:tcPr>
                </a:tc>
              </a:tr>
              <a:tr h="83439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52A30"/>
                          </a:solidFill>
                          <a:latin typeface="Noto Sans CJK SC"/>
                        </a:defRPr>
                      </a:pPr>
                      <a:r>
                        <a:t>sparse PV</a:t>
                      </a:r>
                    </a:p>
                  </a:txBody>
                  <a:tcPr marL="54864" marR="54864" marT="32004" marB="32004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52A30"/>
                          </a:solidFill>
                          <a:latin typeface="Noto Sans CJK SC"/>
                        </a:defRPr>
                      </a:pPr>
                      <a:r>
                        <a:t>softmax score P 沿packed token做2:4</a:t>
                      </a:r>
                    </a:p>
                  </a:txBody>
                  <a:tcPr marL="54864" marR="54864" marT="32004" marB="32004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52A30"/>
                          </a:solidFill>
                          <a:latin typeface="Noto Sans CJK SC"/>
                        </a:defRPr>
                      </a:pPr>
                      <a:r>
                        <a:t>packed V</a:t>
                      </a:r>
                    </a:p>
                  </a:txBody>
                  <a:tcPr marL="54864" marR="54864" marT="32004" marB="32004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52A30"/>
                          </a:solidFill>
                          <a:latin typeface="Noto Sans CJK SC"/>
                        </a:defRPr>
                      </a:pPr>
                      <a:r>
                        <a:t>两个连续64-token LUT block合成128</a:t>
                      </a:r>
                    </a:p>
                  </a:txBody>
                  <a:tcPr marL="54864" marR="54864" marT="32004" marB="32004" anchor="ctr">
                    <a:solidFill>
                      <a:srgbClr val="F7F8FA"/>
                    </a:solidFill>
                  </a:tcPr>
                </a:tc>
              </a:tr>
              <a:tr h="83439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52A30"/>
                          </a:solidFill>
                          <a:latin typeface="Noto Sans CJK SC"/>
                        </a:defRPr>
                      </a:pPr>
                      <a:r>
                        <a:t>linear KtV</a:t>
                      </a:r>
                    </a:p>
                  </a:txBody>
                  <a:tcPr marL="54864" marR="54864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52A30"/>
                          </a:solidFill>
                          <a:latin typeface="Noto Sans CJK SC"/>
                        </a:defRPr>
                      </a:pPr>
                      <a:r>
                        <a:t>feature-map K 沿token L做2:4</a:t>
                      </a:r>
                    </a:p>
                  </a:txBody>
                  <a:tcPr marL="54864" marR="54864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52A30"/>
                          </a:solidFill>
                          <a:latin typeface="Noto Sans CJK SC"/>
                        </a:defRPr>
                      </a:pPr>
                      <a:r>
                        <a:t>V</a:t>
                      </a:r>
                    </a:p>
                  </a:txBody>
                  <a:tcPr marL="54864" marR="54864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52A30"/>
                          </a:solidFill>
                          <a:latin typeface="Noto Sans CJK SC"/>
                        </a:defRPr>
                      </a:pPr>
                      <a:r>
                        <a:t>L维每连续128</a:t>
                      </a:r>
                    </a:p>
                  </a:txBody>
                  <a:tcPr marL="54864" marR="54864" marT="32004" marB="3200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914400" y="4892040"/>
            <a:ext cx="10332720" cy="1280160"/>
          </a:xfrm>
          <a:prstGeom prst="roundRect">
            <a:avLst/>
          </a:prstGeom>
          <a:solidFill>
            <a:srgbClr val="F7F8FA"/>
          </a:solidFill>
          <a:ln>
            <a:solidFill>
              <a:srgbClr val="CDD5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5029200"/>
            <a:ext cx="9966960" cy="32004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/>
            <a:r>
              <a:rPr sz="1600" b="1">
                <a:solidFill>
                  <a:srgbClr val="2A6496"/>
                </a:solidFill>
                <a:latin typeface="Noto Sans CJK SC"/>
              </a:rPr>
              <a:t>Packed PV 关键语义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" y="5458968"/>
            <a:ext cx="9930384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252A30"/>
                </a:solidFill>
                <a:latin typeface="Noto Sans CJK SC"/>
              </a:defRPr>
            </a:pPr>
            <a:r>
              <a:t>• top-k奇数：最后64 token + 64 padding zero</a:t>
            </a:r>
          </a:p>
          <a:p>
            <a:pPr>
              <a:spcAft>
                <a:spcPts val="600"/>
              </a:spcAft>
              <a:defRPr sz="1100">
                <a:solidFill>
                  <a:srgbClr val="252A30"/>
                </a:solidFill>
                <a:latin typeface="Noto Sans CJK SC"/>
              </a:defRPr>
            </a:pPr>
            <a:r>
              <a:t>• padding不参加2:4审计</a:t>
            </a:r>
          </a:p>
          <a:p>
            <a:pPr>
              <a:spcAft>
                <a:spcPts val="600"/>
              </a:spcAft>
              <a:defRPr sz="1100">
                <a:solidFill>
                  <a:srgbClr val="252A30"/>
                </a:solidFill>
                <a:latin typeface="Noto Sans CJK SC"/>
              </a:defRPr>
            </a:pPr>
            <a:r>
              <a:t>• P量化下溢不恢复：数值非零允许少于2，但不能超过2</a:t>
            </a:r>
          </a:p>
          <a:p>
            <a:pPr>
              <a:spcAft>
                <a:spcPts val="600"/>
              </a:spcAft>
              <a:defRPr sz="1100">
                <a:solidFill>
                  <a:srgbClr val="252A30"/>
                </a:solidFill>
                <a:latin typeface="Noto Sans CJK SC"/>
              </a:defRPr>
            </a:pPr>
            <a:r>
              <a:t>• Q@KV不增加稀疏或HiF4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565392"/>
            <a:ext cx="9144000" cy="146304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/>
            <a:r>
              <a:rPr sz="800" b="0">
                <a:solidFill>
                  <a:srgbClr val="6A7580"/>
                </a:solidFill>
                <a:latin typeface="Noto Sans CJK SC"/>
              </a:rPr>
              <a:t>TurboDiffusion · SLA structured activation sparsity + HiF4 W4A4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515600" cy="530352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/>
            <a:r>
              <a:rPr sz="2700" b="1">
                <a:solidFill>
                  <a:srgbClr val="1F2F42"/>
                </a:solidFill>
                <a:latin typeface="Noto Sans CJK SC"/>
              </a:rPr>
              <a:t>HiF4-128 数值伪量化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41248"/>
            <a:ext cx="10515600" cy="256032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/>
            <a:r>
              <a:rPr sz="1000" b="0">
                <a:solidFill>
                  <a:srgbClr val="6A7580"/>
                </a:solidFill>
                <a:latin typeface="Noto Sans CJK SC"/>
              </a:rPr>
              <a:t>每个 GEMM operand 沿真实 reduction 维独立分块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320040"/>
            <a:ext cx="502920" cy="27432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r"/>
            <a:r>
              <a:rPr sz="1100" b="0">
                <a:solidFill>
                  <a:srgbClr val="6A7580"/>
                </a:solidFill>
                <a:latin typeface="Noto Sans CJK SC"/>
              </a:rPr>
              <a:t>07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60704"/>
            <a:ext cx="502920" cy="41148"/>
          </a:xfrm>
          <a:prstGeom prst="rect">
            <a:avLst/>
          </a:prstGeom>
          <a:solidFill>
            <a:srgbClr val="2A6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371600"/>
            <a:ext cx="2743200" cy="50292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ctr"/>
            <a:r>
              <a:rPr sz="2700" b="1">
                <a:solidFill>
                  <a:srgbClr val="2A6496"/>
                </a:solidFill>
                <a:latin typeface="Noto Sans CJK SC"/>
              </a:rPr>
              <a:t>128 = 16 × 2 × 4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22960" y="2011680"/>
          <a:ext cx="10515600" cy="3154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3383280"/>
                <a:gridCol w="5212080"/>
              </a:tblGrid>
              <a:tr h="630936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层级</a:t>
                      </a:r>
                    </a:p>
                  </a:txBody>
                  <a:tcPr marL="54864" marR="54864" marT="32004" marB="32004" anchor="ctr">
                    <a:solidFill>
                      <a:srgbClr val="1F2F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覆盖范围</a:t>
                      </a:r>
                    </a:p>
                  </a:txBody>
                  <a:tcPr marL="54864" marR="54864" marT="32004" marB="32004" anchor="ctr">
                    <a:solidFill>
                      <a:srgbClr val="1F2F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作用</a:t>
                      </a:r>
                    </a:p>
                  </a:txBody>
                  <a:tcPr marL="54864" marR="54864" marT="32004" marB="32004" anchor="ctr">
                    <a:solidFill>
                      <a:srgbClr val="1F2F42"/>
                    </a:solidFill>
                  </a:tcPr>
                </a:tc>
              </a:tr>
              <a:tr h="630936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52A30"/>
                          </a:solidFill>
                          <a:latin typeface="Noto Sans CJK SC"/>
                        </a:defRPr>
                      </a:pPr>
                      <a:r>
                        <a:t>Local</a:t>
                      </a:r>
                    </a:p>
                  </a:txBody>
                  <a:tcPr marL="54864" marR="54864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52A30"/>
                          </a:solidFill>
                          <a:latin typeface="Noto Sans CJK SC"/>
                        </a:defRPr>
                      </a:pPr>
                      <a:r>
                        <a:t>每4个 reduction 元素</a:t>
                      </a:r>
                    </a:p>
                  </a:txBody>
                  <a:tcPr marL="54864" marR="54864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52A30"/>
                          </a:solidFill>
                          <a:latin typeface="Noto Sans CJK SC"/>
                        </a:defRPr>
                      </a:pPr>
                      <a:r>
                        <a:t>计算局部最大值与最细量化尺度</a:t>
                      </a:r>
                    </a:p>
                  </a:txBody>
                  <a:tcPr marL="54864" marR="54864" marT="32004" marB="32004" anchor="ctr">
                    <a:solidFill>
                      <a:srgbClr val="FFFFFF"/>
                    </a:solidFill>
                  </a:tcPr>
                </a:tc>
              </a:tr>
              <a:tr h="630936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52A30"/>
                          </a:solidFill>
                          <a:latin typeface="Noto Sans CJK SC"/>
                        </a:defRPr>
                      </a:pPr>
                      <a:r>
                        <a:t>Level-2</a:t>
                      </a:r>
                    </a:p>
                  </a:txBody>
                  <a:tcPr marL="54864" marR="54864" marT="32004" marB="32004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52A30"/>
                          </a:solidFill>
                          <a:latin typeface="Noto Sans CJK SC"/>
                        </a:defRPr>
                      </a:pPr>
                      <a:r>
                        <a:t>相邻两个四元组 = 8元素</a:t>
                      </a:r>
                    </a:p>
                  </a:txBody>
                  <a:tcPr marL="54864" marR="54864" marT="32004" marB="32004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52A30"/>
                          </a:solidFill>
                          <a:latin typeface="Noto Sans CJK SC"/>
                        </a:defRPr>
                      </a:pPr>
                      <a:r>
                        <a:t>共享二级scale</a:t>
                      </a:r>
                    </a:p>
                  </a:txBody>
                  <a:tcPr marL="54864" marR="54864" marT="32004" marB="32004" anchor="ctr">
                    <a:solidFill>
                      <a:srgbClr val="F7F8FA"/>
                    </a:solidFill>
                  </a:tcPr>
                </a:tc>
              </a:tr>
              <a:tr h="630936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52A30"/>
                          </a:solidFill>
                          <a:latin typeface="Noto Sans CJK SC"/>
                        </a:defRPr>
                      </a:pPr>
                      <a:r>
                        <a:t>Top</a:t>
                      </a:r>
                    </a:p>
                  </a:txBody>
                  <a:tcPr marL="54864" marR="54864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52A30"/>
                          </a:solidFill>
                          <a:latin typeface="Noto Sans CJK SC"/>
                        </a:defRPr>
                      </a:pPr>
                      <a:r>
                        <a:t>连续128个 reduction 元素</a:t>
                      </a:r>
                    </a:p>
                  </a:txBody>
                  <a:tcPr marL="54864" marR="54864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52A30"/>
                          </a:solidFill>
                          <a:latin typeface="Noto Sans CJK SC"/>
                        </a:defRPr>
                      </a:pPr>
                      <a:r>
                        <a:t>共享最高层scale</a:t>
                      </a:r>
                    </a:p>
                  </a:txBody>
                  <a:tcPr marL="54864" marR="54864" marT="32004" marB="32004" anchor="ctr">
                    <a:solidFill>
                      <a:srgbClr val="FFFFFF"/>
                    </a:solidFill>
                  </a:tcPr>
                </a:tc>
              </a:tr>
              <a:tr h="630936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52A30"/>
                          </a:solidFill>
                          <a:latin typeface="Noto Sans CJK SC"/>
                        </a:defRPr>
                      </a:pPr>
                      <a:r>
                        <a:t>Tail</a:t>
                      </a:r>
                    </a:p>
                  </a:txBody>
                  <a:tcPr marL="54864" marR="54864" marT="32004" marB="32004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52A30"/>
                          </a:solidFill>
                          <a:latin typeface="Noto Sans CJK SC"/>
                        </a:defRPr>
                      </a:pPr>
                      <a:r>
                        <a:t>不足128的最后一块</a:t>
                      </a:r>
                    </a:p>
                  </a:txBody>
                  <a:tcPr marL="54864" marR="54864" marT="32004" marB="32004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52A30"/>
                          </a:solidFill>
                          <a:latin typeface="Noto Sans CJK SC"/>
                        </a:defRPr>
                      </a:pPr>
                      <a:r>
                        <a:t>补0量化后裁掉；padding不审计</a:t>
                      </a:r>
                    </a:p>
                  </a:txBody>
                  <a:tcPr marL="54864" marR="54864" marT="32004" marB="32004" anchor="ctr"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77240" y="5669280"/>
            <a:ext cx="10698480" cy="50292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ctr"/>
            <a:r>
              <a:rPr sz="1500" b="1">
                <a:solidFill>
                  <a:srgbClr val="1F2F42"/>
                </a:solidFill>
                <a:latin typeface="Noto Sans CJK SC"/>
              </a:rPr>
              <a:t>执行顺序：结构化稀疏 → HiF4 QDQ → 重新应用原 mask / support 保护 → dense BF16/FP16 GEMM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565392"/>
            <a:ext cx="9144000" cy="146304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/>
            <a:r>
              <a:rPr sz="800" b="0">
                <a:solidFill>
                  <a:srgbClr val="6A7580"/>
                </a:solidFill>
                <a:latin typeface="Noto Sans CJK SC"/>
              </a:rPr>
              <a:t>TurboDiffusion · SLA structured activation sparsity + HiF4 W4A4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515600" cy="530352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/>
            <a:r>
              <a:rPr sz="2700" b="1">
                <a:solidFill>
                  <a:srgbClr val="1F2F42"/>
                </a:solidFill>
                <a:latin typeface="Noto Sans CJK SC"/>
              </a:rPr>
              <a:t>稀疏模式与 support 保护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41248"/>
            <a:ext cx="10515600" cy="256032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/>
            <a:r>
              <a:rPr sz="1000" b="0">
                <a:solidFill>
                  <a:srgbClr val="6A7580"/>
                </a:solidFill>
                <a:latin typeface="Noto Sans CJK SC"/>
              </a:rPr>
              <a:t>区分索引预算与量化后的数值非零数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320040"/>
            <a:ext cx="502920" cy="27432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r"/>
            <a:r>
              <a:rPr sz="1100" b="0">
                <a:solidFill>
                  <a:srgbClr val="6A7580"/>
                </a:solidFill>
                <a:latin typeface="Noto Sans CJK SC"/>
              </a:rPr>
              <a:t>08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60704"/>
            <a:ext cx="502920" cy="41148"/>
          </a:xfrm>
          <a:prstGeom prst="rect">
            <a:avLst/>
          </a:prstGeom>
          <a:solidFill>
            <a:srgbClr val="2A6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22960" y="1389888"/>
          <a:ext cx="10515600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1720"/>
                <a:gridCol w="3337560"/>
                <a:gridCol w="4846320"/>
              </a:tblGrid>
              <a:tr h="58293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模式</a:t>
                      </a:r>
                    </a:p>
                  </a:txBody>
                  <a:tcPr marL="54864" marR="54864" marT="32004" marB="32004" anchor="ctr">
                    <a:solidFill>
                      <a:srgbClr val="1F2F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分组</a:t>
                      </a:r>
                    </a:p>
                  </a:txBody>
                  <a:tcPr marL="54864" marR="54864" marT="32004" marB="32004" anchor="ctr">
                    <a:solidFill>
                      <a:srgbClr val="1F2F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保留规则</a:t>
                      </a:r>
                    </a:p>
                  </a:txBody>
                  <a:tcPr marL="54864" marR="54864" marT="32004" marB="32004" anchor="ctr">
                    <a:solidFill>
                      <a:srgbClr val="1F2F42"/>
                    </a:solidFill>
                  </a:tcPr>
                </a:tc>
              </a:tr>
              <a:tr h="58293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52A30"/>
                          </a:solidFill>
                          <a:latin typeface="Noto Sans CJK SC"/>
                        </a:defRPr>
                      </a:pPr>
                      <a:r>
                        <a:t>2:4</a:t>
                      </a:r>
                    </a:p>
                  </a:txBody>
                  <a:tcPr marL="54864" marR="54864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52A30"/>
                          </a:solidFill>
                          <a:latin typeface="Noto Sans CJK SC"/>
                        </a:defRPr>
                      </a:pPr>
                      <a:r>
                        <a:t>reduction维每连续4个</a:t>
                      </a:r>
                    </a:p>
                  </a:txBody>
                  <a:tcPr marL="54864" marR="54864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52A30"/>
                          </a:solidFill>
                          <a:latin typeface="Noto Sans CJK SC"/>
                        </a:defRPr>
                      </a:pPr>
                      <a:r>
                        <a:t>按绝对值保留最大2个索引</a:t>
                      </a:r>
                    </a:p>
                  </a:txBody>
                  <a:tcPr marL="54864" marR="54864" marT="32004" marB="32004" anchor="ctr">
                    <a:solidFill>
                      <a:srgbClr val="FFFFFF"/>
                    </a:solidFill>
                  </a:tcPr>
                </a:tc>
              </a:tr>
              <a:tr h="58293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52A30"/>
                          </a:solidFill>
                          <a:latin typeface="Noto Sans CJK SC"/>
                        </a:defRPr>
                      </a:pPr>
                      <a:r>
                        <a:t>4:8 pairwise</a:t>
                      </a:r>
                    </a:p>
                  </a:txBody>
                  <a:tcPr marL="54864" marR="54864" marT="32004" marB="32004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52A30"/>
                          </a:solidFill>
                          <a:latin typeface="Noto Sans CJK SC"/>
                        </a:defRPr>
                      </a:pPr>
                      <a:r>
                        <a:t>8元素 = 4个相邻二元组</a:t>
                      </a:r>
                    </a:p>
                  </a:txBody>
                  <a:tcPr marL="54864" marR="54864" marT="32004" marB="32004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52A30"/>
                          </a:solidFill>
                          <a:latin typeface="Noto Sans CJK SC"/>
                        </a:defRPr>
                      </a:pPr>
                      <a:r>
                        <a:t>按pair L1保留2个完整pair，即4/8</a:t>
                      </a:r>
                    </a:p>
                  </a:txBody>
                  <a:tcPr marL="54864" marR="54864" marT="32004" marB="32004" anchor="ctr">
                    <a:solidFill>
                      <a:srgbClr val="F7F8FA"/>
                    </a:solidFill>
                  </a:tcPr>
                </a:tc>
              </a:tr>
              <a:tr h="58293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52A30"/>
                          </a:solidFill>
                          <a:latin typeface="Noto Sans CJK SC"/>
                        </a:defRPr>
                      </a:pPr>
                      <a:r>
                        <a:t>2:4 share-index=2</a:t>
                      </a:r>
                    </a:p>
                  </a:txBody>
                  <a:tcPr marL="54864" marR="54864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52A30"/>
                          </a:solidFill>
                          <a:latin typeface="Noto Sans CJK SC"/>
                        </a:defRPr>
                      </a:pPr>
                      <a:r>
                        <a:t>两个相邻share对象</a:t>
                      </a:r>
                    </a:p>
                  </a:txBody>
                  <a:tcPr marL="54864" marR="54864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52A30"/>
                          </a:solidFill>
                          <a:latin typeface="Noto Sans CJK SC"/>
                        </a:defRPr>
                      </a:pPr>
                      <a:r>
                        <a:t>合并L1计算，共享同一2:4 mask</a:t>
                      </a:r>
                    </a:p>
                  </a:txBody>
                  <a:tcPr marL="54864" marR="54864" marT="32004" marB="3200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822960" y="4114800"/>
            <a:ext cx="5166360" cy="1554480"/>
          </a:xfrm>
          <a:prstGeom prst="roundRect">
            <a:avLst/>
          </a:prstGeom>
          <a:solidFill>
            <a:srgbClr val="F7F8FA"/>
          </a:solidFill>
          <a:ln>
            <a:solidFill>
              <a:srgbClr val="CDD5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4251960"/>
            <a:ext cx="4800600" cy="32004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/>
            <a:r>
              <a:rPr sz="1600" b="1">
                <a:solidFill>
                  <a:srgbClr val="26745A"/>
                </a:solidFill>
                <a:latin typeface="Noto Sans CJK SC"/>
              </a:rPr>
              <a:t>普通 Q / K / V / KV 稀疏 operand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4681728"/>
            <a:ext cx="4764024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252A30"/>
                </a:solidFill>
                <a:latin typeface="Noto Sans CJK SC"/>
              </a:defRPr>
            </a:pPr>
            <a:r>
              <a:t>• QDQ后重新应用原始非零mask</a:t>
            </a:r>
          </a:p>
          <a:p>
            <a:pPr>
              <a:spcAft>
                <a:spcPts val="600"/>
              </a:spcAft>
              <a:defRPr sz="1100">
                <a:solidFill>
                  <a:srgbClr val="252A30"/>
                </a:solidFill>
                <a:latin typeface="Noto Sans CJK SC"/>
              </a:defRPr>
            </a:pPr>
            <a:r>
              <a:t>• 删除位置严格保持0</a:t>
            </a:r>
          </a:p>
          <a:p>
            <a:pPr>
              <a:spcAft>
                <a:spcPts val="600"/>
              </a:spcAft>
              <a:defRPr sz="1100">
                <a:solidFill>
                  <a:srgbClr val="252A30"/>
                </a:solidFill>
                <a:latin typeface="Noto Sans CJK SC"/>
              </a:defRPr>
            </a:pPr>
            <a:r>
              <a:t>• 保留值若下溢，恢复为层级最小非零值</a:t>
            </a:r>
          </a:p>
          <a:p>
            <a:pPr>
              <a:spcAft>
                <a:spcPts val="600"/>
              </a:spcAft>
              <a:defRPr sz="1100">
                <a:solidFill>
                  <a:srgbClr val="252A30"/>
                </a:solidFill>
                <a:latin typeface="Noto Sans CJK SC"/>
              </a:defRPr>
            </a:pPr>
            <a:r>
              <a:t>• 到达GEMM前维持既定support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9632" y="4114800"/>
            <a:ext cx="5166360" cy="1554480"/>
          </a:xfrm>
          <a:prstGeom prst="roundRect">
            <a:avLst/>
          </a:prstGeom>
          <a:solidFill>
            <a:srgbClr val="F7F8FA"/>
          </a:solidFill>
          <a:ln>
            <a:solidFill>
              <a:srgbClr val="CDD5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82512" y="4251960"/>
            <a:ext cx="4800600" cy="32004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/>
            <a:r>
              <a:rPr sz="1600" b="1">
                <a:solidFill>
                  <a:srgbClr val="2A6496"/>
                </a:solidFill>
                <a:latin typeface="Noto Sans CJK SC"/>
              </a:rPr>
              <a:t>Rubin P 例外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4681728"/>
            <a:ext cx="4764024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252A30"/>
                </a:solidFill>
                <a:latin typeface="Noto Sans CJK SC"/>
              </a:defRPr>
            </a:pPr>
            <a:r>
              <a:t>• 不恢复P的HiF4量化下溢</a:t>
            </a:r>
          </a:p>
          <a:p>
            <a:pPr>
              <a:spcAft>
                <a:spcPts val="600"/>
              </a:spcAft>
              <a:defRPr sz="1100">
                <a:solidFill>
                  <a:srgbClr val="252A30"/>
                </a:solidFill>
                <a:latin typeface="Noto Sans CJK SC"/>
              </a:defRPr>
            </a:pPr>
            <a:r>
              <a:t>• 每个完整四元组数值非零可 &lt; 2</a:t>
            </a:r>
          </a:p>
          <a:p>
            <a:pPr>
              <a:spcAft>
                <a:spcPts val="600"/>
              </a:spcAft>
              <a:defRPr sz="1100">
                <a:solidFill>
                  <a:srgbClr val="252A30"/>
                </a:solidFill>
                <a:latin typeface="Noto Sans CJK SC"/>
              </a:defRPr>
            </a:pPr>
            <a:r>
              <a:t>• 审计约束为每组非零数 ≤ 2</a:t>
            </a:r>
          </a:p>
          <a:p>
            <a:pPr>
              <a:spcAft>
                <a:spcPts val="600"/>
              </a:spcAft>
              <a:defRPr sz="1100">
                <a:solidFill>
                  <a:srgbClr val="252A30"/>
                </a:solidFill>
                <a:latin typeface="Noto Sans CJK SC"/>
              </a:defRPr>
            </a:pPr>
            <a:r>
              <a:t>• 避免极小概率被恢复后放大PV输出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565392"/>
            <a:ext cx="9144000" cy="146304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/>
            <a:r>
              <a:rPr sz="800" b="0">
                <a:solidFill>
                  <a:srgbClr val="6A7580"/>
                </a:solidFill>
                <a:latin typeface="Noto Sans CJK SC"/>
              </a:rPr>
              <a:t>TurboDiffusion · SLA structured activation sparsity + HiF4 W4A4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515600" cy="530352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/>
            <a:r>
              <a:rPr sz="2700" b="1">
                <a:solidFill>
                  <a:srgbClr val="1F2F42"/>
                </a:solidFill>
                <a:latin typeface="Noto Sans CJK SC"/>
              </a:rPr>
              <a:t>基线与实验边界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41248"/>
            <a:ext cx="10515600" cy="256032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/>
            <a:r>
              <a:rPr sz="1000" b="0">
                <a:solidFill>
                  <a:srgbClr val="6A7580"/>
                </a:solidFill>
                <a:latin typeface="Noto Sans CJK SC"/>
              </a:rPr>
              <a:t>如何正确解读结果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320040"/>
            <a:ext cx="502920" cy="27432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r"/>
            <a:r>
              <a:rPr sz="1100" b="0">
                <a:solidFill>
                  <a:srgbClr val="6A7580"/>
                </a:solidFill>
                <a:latin typeface="Noto Sans CJK SC"/>
              </a:rPr>
              <a:t>09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60704"/>
            <a:ext cx="502920" cy="41148"/>
          </a:xfrm>
          <a:prstGeom prst="rect">
            <a:avLst/>
          </a:prstGeom>
          <a:solidFill>
            <a:srgbClr val="2A6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68680" y="1417320"/>
          <a:ext cx="1065276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3794760"/>
                <a:gridCol w="2743200"/>
                <a:gridCol w="2148840"/>
              </a:tblGrid>
              <a:tr h="59436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方法</a:t>
                      </a:r>
                    </a:p>
                  </a:txBody>
                  <a:tcPr marL="54864" marR="54864" marT="32004" marB="32004" anchor="ctr">
                    <a:solidFill>
                      <a:srgbClr val="1F2F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attention语义</a:t>
                      </a:r>
                    </a:p>
                  </a:txBody>
                  <a:tcPr marL="54864" marR="54864" marT="32004" marB="32004" anchor="ctr">
                    <a:solidFill>
                      <a:srgbClr val="1F2F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结构化稀疏</a:t>
                      </a:r>
                    </a:p>
                  </a:txBody>
                  <a:tcPr marL="54864" marR="54864" marT="32004" marB="32004" anchor="ctr">
                    <a:solidFill>
                      <a:srgbClr val="1F2F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HiF4</a:t>
                      </a:r>
                    </a:p>
                  </a:txBody>
                  <a:tcPr marL="54864" marR="54864" marT="32004" marB="32004" anchor="ctr">
                    <a:solidFill>
                      <a:srgbClr val="1F2F42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52A30"/>
                          </a:solidFill>
                          <a:latin typeface="Noto Sans CJK SC"/>
                        </a:defRPr>
                      </a:pPr>
                      <a:r>
                        <a:t>Original</a:t>
                      </a:r>
                    </a:p>
                  </a:txBody>
                  <a:tcPr marL="54864" marR="54864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52A30"/>
                          </a:solidFill>
                          <a:latin typeface="Noto Sans CJK SC"/>
                        </a:defRPr>
                      </a:pPr>
                      <a:r>
                        <a:t>原始dense attention</a:t>
                      </a:r>
                    </a:p>
                  </a:txBody>
                  <a:tcPr marL="54864" marR="54864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52A30"/>
                          </a:solidFill>
                          <a:latin typeface="Noto Sans CJK SC"/>
                        </a:defRPr>
                      </a:pPr>
                      <a:r>
                        <a:t>无</a:t>
                      </a:r>
                    </a:p>
                  </a:txBody>
                  <a:tcPr marL="54864" marR="54864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52A30"/>
                          </a:solidFill>
                          <a:latin typeface="Noto Sans CJK SC"/>
                        </a:defRPr>
                      </a:pPr>
                      <a:r>
                        <a:t>无</a:t>
                      </a:r>
                    </a:p>
                  </a:txBody>
                  <a:tcPr marL="54864" marR="54864" marT="32004" marB="32004"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52A30"/>
                          </a:solidFill>
                          <a:latin typeface="Noto Sans CJK SC"/>
                        </a:defRPr>
                      </a:pPr>
                      <a:r>
                        <a:t>SLA</a:t>
                      </a:r>
                    </a:p>
                  </a:txBody>
                  <a:tcPr marL="54864" marR="54864" marT="32004" marB="32004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52A30"/>
                          </a:solidFill>
                          <a:latin typeface="Noto Sans CJK SC"/>
                        </a:defRPr>
                      </a:pPr>
                      <a:r>
                        <a:t>LUT block-sparse + linear分支</a:t>
                      </a:r>
                    </a:p>
                  </a:txBody>
                  <a:tcPr marL="54864" marR="54864" marT="32004" marB="32004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52A30"/>
                          </a:solidFill>
                          <a:latin typeface="Noto Sans CJK SC"/>
                        </a:defRPr>
                      </a:pPr>
                      <a:r>
                        <a:t>无新增2:4/4:8</a:t>
                      </a:r>
                    </a:p>
                  </a:txBody>
                  <a:tcPr marL="54864" marR="54864" marT="32004" marB="32004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52A30"/>
                          </a:solidFill>
                          <a:latin typeface="Noto Sans CJK SC"/>
                        </a:defRPr>
                      </a:pPr>
                      <a:r>
                        <a:t>无</a:t>
                      </a:r>
                    </a:p>
                  </a:txBody>
                  <a:tcPr marL="54864" marR="54864" marT="32004" marB="32004" anchor="ctr">
                    <a:solidFill>
                      <a:srgbClr val="F7F8FA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52A30"/>
                          </a:solidFill>
                          <a:latin typeface="Noto Sans CJK SC"/>
                        </a:defRPr>
                      </a:pPr>
                      <a:r>
                        <a:t>11个 sparse+HiF4</a:t>
                      </a:r>
                    </a:p>
                  </a:txBody>
                  <a:tcPr marL="54864" marR="54864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52A30"/>
                          </a:solidFill>
                          <a:latin typeface="Noto Sans CJK SC"/>
                        </a:defRPr>
                      </a:pPr>
                      <a:r>
                        <a:t>保留SLA block mask与linear分支</a:t>
                      </a:r>
                    </a:p>
                  </a:txBody>
                  <a:tcPr marL="54864" marR="54864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52A30"/>
                          </a:solidFill>
                          <a:latin typeface="Noto Sans CJK SC"/>
                        </a:defRPr>
                      </a:pPr>
                      <a:r>
                        <a:t>仅指定GEMM operand</a:t>
                      </a:r>
                    </a:p>
                  </a:txBody>
                  <a:tcPr marL="54864" marR="54864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52A30"/>
                          </a:solidFill>
                          <a:latin typeface="Noto Sans CJK SC"/>
                        </a:defRPr>
                      </a:pPr>
                      <a:r>
                        <a:t>同一目标GEMM两侧</a:t>
                      </a:r>
                    </a:p>
                  </a:txBody>
                  <a:tcPr marL="54864" marR="54864" marT="32004" marB="3200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868680" y="4224528"/>
            <a:ext cx="5074920" cy="1417320"/>
          </a:xfrm>
          <a:prstGeom prst="roundRect">
            <a:avLst/>
          </a:prstGeom>
          <a:solidFill>
            <a:srgbClr val="F7F8FA"/>
          </a:solidFill>
          <a:ln>
            <a:solidFill>
              <a:srgbClr val="CDD5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4361688"/>
            <a:ext cx="4709159" cy="32004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/>
            <a:r>
              <a:rPr sz="1600" b="1">
                <a:solidFill>
                  <a:srgbClr val="26745A"/>
                </a:solidFill>
                <a:latin typeface="Noto Sans CJK SC"/>
              </a:rPr>
              <a:t>本实验可以说明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" y="4791456"/>
            <a:ext cx="4672583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252A30"/>
                </a:solidFill>
                <a:latin typeface="Noto Sans CJK SC"/>
              </a:defRPr>
            </a:pPr>
            <a:r>
              <a:t>• 结构化激活稀疏与HiF4数值误差对生成质量的影响</a:t>
            </a:r>
          </a:p>
          <a:p>
            <a:pPr>
              <a:spcAft>
                <a:spcPts val="600"/>
              </a:spcAft>
              <a:defRPr sz="1100">
                <a:solidFill>
                  <a:srgbClr val="252A30"/>
                </a:solidFill>
                <a:latin typeface="Noto Sans CJK SC"/>
              </a:defRPr>
            </a:pPr>
            <a:r>
              <a:t>• 不同operand和reduction维的质量敏感度</a:t>
            </a:r>
          </a:p>
          <a:p>
            <a:pPr>
              <a:spcAft>
                <a:spcPts val="600"/>
              </a:spcAft>
              <a:defRPr sz="1100">
                <a:solidFill>
                  <a:srgbClr val="252A30"/>
                </a:solidFill>
                <a:latin typeface="Noto Sans CJK SC"/>
              </a:defRPr>
            </a:pPr>
            <a:r>
              <a:t>• 所有方法使用匹配的8 prompts / seed / steps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6208" y="4224528"/>
            <a:ext cx="5074920" cy="1417320"/>
          </a:xfrm>
          <a:prstGeom prst="roundRect">
            <a:avLst/>
          </a:prstGeom>
          <a:solidFill>
            <a:srgbClr val="F7F8FA"/>
          </a:solidFill>
          <a:ln>
            <a:solidFill>
              <a:srgbClr val="CDD5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4361688"/>
            <a:ext cx="4709159" cy="32004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/>
            <a:r>
              <a:rPr sz="1600" b="1">
                <a:solidFill>
                  <a:srgbClr val="2A6496"/>
                </a:solidFill>
                <a:latin typeface="Noto Sans CJK SC"/>
              </a:rPr>
              <a:t>本实验不能声称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37376" y="4791456"/>
            <a:ext cx="4672583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252A30"/>
                </a:solidFill>
                <a:latin typeface="Noto Sans CJK SC"/>
              </a:defRPr>
            </a:pPr>
            <a:r>
              <a:t>• 真实4-bit模型权重或4-bit存储压缩</a:t>
            </a:r>
          </a:p>
          <a:p>
            <a:pPr>
              <a:spcAft>
                <a:spcPts val="600"/>
              </a:spcAft>
              <a:defRPr sz="1100">
                <a:solidFill>
                  <a:srgbClr val="252A30"/>
                </a:solidFill>
                <a:latin typeface="Noto Sans CJK SC"/>
              </a:defRPr>
            </a:pPr>
            <a:r>
              <a:t>• 真实稀疏Tensor Core执行</a:t>
            </a:r>
          </a:p>
          <a:p>
            <a:pPr>
              <a:spcAft>
                <a:spcPts val="600"/>
              </a:spcAft>
              <a:defRPr sz="1100">
                <a:solidFill>
                  <a:srgbClr val="252A30"/>
                </a:solidFill>
                <a:latin typeface="Noto Sans CJK SC"/>
              </a:defRPr>
            </a:pPr>
            <a:r>
              <a:t>• 端到端推理加速或显存节省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565392"/>
            <a:ext cx="9144000" cy="146304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/>
            <a:r>
              <a:rPr sz="800" b="0">
                <a:solidFill>
                  <a:srgbClr val="6A7580"/>
                </a:solidFill>
                <a:latin typeface="Noto Sans CJK SC"/>
              </a:rPr>
              <a:t>TurboDiffusion · SLA structured activation sparsity + HiF4 W4A4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